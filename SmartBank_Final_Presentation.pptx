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7C1C"/>
    <a:srgbClr val="1681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46" d="100"/>
          <a:sy n="46" d="100"/>
        </p:scale>
        <p:origin x="2712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BA8FC4-C46C-43A4-8715-51CBA67634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3046A3-3770-4458-BB4E-D9E24CFD0A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804954-836E-43F6-9856-D222C2851D20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935400-C41F-4C6B-A4B5-58465CC63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5E5850-C9FE-4EAC-ADE3-42E92E8E6E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BCBBC-61FD-4DA4-A256-126BDB884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017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432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microsoft.com/office/2007/relationships/hdphoto" Target="../media/hdphoto2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3.wd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19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2470349" y="3760763"/>
            <a:ext cx="69129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 112  ·  OBJECT ORIENTED PROGRAMMING LANGUAGE SESSIONAL</a:t>
            </a:r>
            <a:endParaRPr lang="en-US" sz="1300" dirty="0">
              <a:solidFill>
                <a:srgbClr val="00B05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2175872" y="1682147"/>
            <a:ext cx="7479598" cy="320040"/>
          </a:xfrm>
          <a:prstGeom prst="rect">
            <a:avLst/>
          </a:prstGeom>
          <a:solidFill>
            <a:srgbClr val="0F1F3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Frontier Technology, Bangladesh</a:t>
            </a:r>
            <a:endParaRPr lang="en-US" sz="2800" dirty="0">
              <a:solidFill>
                <a:srgbClr val="00B0F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2120559" y="2583931"/>
            <a:ext cx="7558888" cy="7988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SmartBank v2.1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-75418" y="3295904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CB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File-Based Banking Simulation System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1600200" y="4412153"/>
            <a:ext cx="3713850" cy="1872639"/>
          </a:xfrm>
          <a:prstGeom prst="rect">
            <a:avLst/>
          </a:prstGeom>
          <a:solidFill>
            <a:srgbClr val="1A2238">
              <a:alpha val="16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670394" y="455361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2CB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70394" y="4894578"/>
            <a:ext cx="3786823" cy="1390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Tarikul Islam (30)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Akiqur Rahman (29)</a:t>
            </a:r>
            <a:endParaRPr lang="en-US" sz="1600" dirty="0"/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UFTB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271921" y="4500212"/>
            <a:ext cx="3564691" cy="2030801"/>
          </a:xfrm>
          <a:prstGeom prst="rect">
            <a:avLst/>
          </a:prstGeom>
          <a:solidFill>
            <a:srgbClr val="1A2238">
              <a:alpha val="2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271922" y="45002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2CB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229765" y="4855768"/>
            <a:ext cx="3713851" cy="1390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Masud Rana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</a:t>
            </a:r>
            <a:endParaRPr lang="en-US" sz="1600" dirty="0"/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UFTB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B5ECEF5-FBCB-4473-93CC-D1B3897AC4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48510" y="137160"/>
            <a:ext cx="2124520" cy="159037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1600ED1-0889-4381-A276-6E6B9521B4E5}"/>
              </a:ext>
            </a:extLst>
          </p:cNvPr>
          <p:cNvSpPr/>
          <p:nvPr/>
        </p:nvSpPr>
        <p:spPr>
          <a:xfrm>
            <a:off x="3065435" y="2035511"/>
            <a:ext cx="5461282" cy="492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Cyber Security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B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 Banking Simulation, Hardened for v2.1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63624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SmartBank models retail banking — accounts, ATM, cards, online banking, and admin oversight — with all data persisted to disk between sessions. Release v2.1's headline change: passwords are now SHA-256 hashed, never stored or compared in plain text.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3611880" cy="19202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594360" cy="594360"/>
          </a:xfrm>
          <a:prstGeom prst="ellipse">
            <a:avLst/>
          </a:prstGeom>
          <a:solidFill>
            <a:srgbClr val="1D8C81"/>
          </a:solidFill>
          <a:ln/>
        </p:spPr>
      </p:sp>
      <p:pic>
        <p:nvPicPr>
          <p:cNvPr id="8" name="Image 0" descr="/home/claude/build/icons/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54" y="253197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0127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345351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Hand-written, FIPS 180-4 compliant. No plain-text password ever touches memory or disk.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297680" y="2148840"/>
            <a:ext cx="3611880" cy="19202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</p:sp>
      <p:sp>
        <p:nvSpPr>
          <p:cNvPr id="12" name="Shape 9"/>
          <p:cNvSpPr/>
          <p:nvPr/>
        </p:nvSpPr>
        <p:spPr>
          <a:xfrm>
            <a:off x="4526280" y="2377440"/>
            <a:ext cx="594360" cy="594360"/>
          </a:xfrm>
          <a:prstGeom prst="ellipse">
            <a:avLst/>
          </a:prstGeom>
          <a:solidFill>
            <a:srgbClr val="1D8C81"/>
          </a:solidFill>
          <a:ln/>
        </p:spPr>
      </p:sp>
      <p:pic>
        <p:nvPicPr>
          <p:cNvPr id="13" name="Image 1" descr="/home/claude/build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814" y="253197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2971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XOR-Encrypted Persistence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526280" y="34747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flat-file databases obfuscated on write, reversed on read.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092440" y="2148840"/>
            <a:ext cx="3611880" cy="19202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</p:sp>
      <p:sp>
        <p:nvSpPr>
          <p:cNvPr id="17" name="Shape 13"/>
          <p:cNvSpPr/>
          <p:nvPr/>
        </p:nvSpPr>
        <p:spPr>
          <a:xfrm>
            <a:off x="8321040" y="2377440"/>
            <a:ext cx="594360" cy="594360"/>
          </a:xfrm>
          <a:prstGeom prst="ellipse">
            <a:avLst/>
          </a:prstGeom>
          <a:solidFill>
            <a:srgbClr val="1D8C81"/>
          </a:solidFill>
          <a:ln/>
        </p:spPr>
      </p:sp>
      <p:pic>
        <p:nvPicPr>
          <p:cNvPr id="18" name="Image 2" descr="/home/claude/build/icons/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5574" y="253197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3022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MFA / OTP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8138160" y="3447383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</a:t>
            </a: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withdrawals</a:t>
            </a: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online transfers gated behind a one-time passcode.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02920" y="4297680"/>
            <a:ext cx="3611880" cy="19202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</p:sp>
      <p:sp>
        <p:nvSpPr>
          <p:cNvPr id="22" name="Shape 17"/>
          <p:cNvSpPr/>
          <p:nvPr/>
        </p:nvSpPr>
        <p:spPr>
          <a:xfrm>
            <a:off x="731520" y="4526280"/>
            <a:ext cx="594360" cy="594360"/>
          </a:xfrm>
          <a:prstGeom prst="ellipse">
            <a:avLst/>
          </a:prstGeom>
          <a:solidFill>
            <a:srgbClr val="1D8C81"/>
          </a:solidFill>
          <a:ln/>
        </p:spPr>
      </p:sp>
      <p:pic>
        <p:nvPicPr>
          <p:cNvPr id="23" name="Image 3" descr="/home/claude/build/icons/b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054" y="468081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" y="5130757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 &amp; Card Blocking</a:t>
            </a: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731520" y="5542179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3-strikes policy; only an admin can lift the restriction.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4297680" y="4297680"/>
            <a:ext cx="3611880" cy="19202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</p:sp>
      <p:sp>
        <p:nvSpPr>
          <p:cNvPr id="27" name="Shape 21"/>
          <p:cNvSpPr/>
          <p:nvPr/>
        </p:nvSpPr>
        <p:spPr>
          <a:xfrm>
            <a:off x="4526280" y="4526280"/>
            <a:ext cx="594360" cy="594360"/>
          </a:xfrm>
          <a:prstGeom prst="ellipse">
            <a:avLst/>
          </a:prstGeom>
          <a:solidFill>
            <a:srgbClr val="1D8C81"/>
          </a:solidFill>
          <a:ln/>
        </p:spPr>
      </p:sp>
      <p:pic>
        <p:nvPicPr>
          <p:cNvPr id="28" name="Image 4" descr="/home/claude/build/icons/histo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0814" y="4680814"/>
            <a:ext cx="285293" cy="28529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26280" y="5257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4526280" y="56235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security-relevant event timestamped in audit_log.txt.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8092440" y="4297680"/>
            <a:ext cx="3611880" cy="19202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</p:sp>
      <p:sp>
        <p:nvSpPr>
          <p:cNvPr id="32" name="Shape 25"/>
          <p:cNvSpPr/>
          <p:nvPr/>
        </p:nvSpPr>
        <p:spPr>
          <a:xfrm>
            <a:off x="8321040" y="4526280"/>
            <a:ext cx="594360" cy="594360"/>
          </a:xfrm>
          <a:prstGeom prst="ellipse">
            <a:avLst/>
          </a:prstGeom>
          <a:solidFill>
            <a:srgbClr val="1D8C81"/>
          </a:solidFill>
          <a:ln/>
        </p:spPr>
      </p:sp>
      <p:pic>
        <p:nvPicPr>
          <p:cNvPr id="33" name="Image 5" descr="/home/claude/build/icons/cog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5574" y="4680814"/>
            <a:ext cx="285293" cy="28529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475574" y="514807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Dependencies</a:t>
            </a: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8321040" y="5582801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Standard C++11 — no external libraries required.</a:t>
            </a:r>
            <a:endParaRPr lang="en-US" sz="1600" dirty="0"/>
          </a:p>
        </p:txBody>
      </p:sp>
      <p:sp>
        <p:nvSpPr>
          <p:cNvPr id="37" name="Text 29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9FACA6C-0B0E-4236-9B99-34DC897FCA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59456" y="-41572"/>
            <a:ext cx="998287" cy="905256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0B2B22EE-23DD-44E2-8760-81BFBCAB66D5}"/>
              </a:ext>
            </a:extLst>
          </p:cNvPr>
          <p:cNvSpPr/>
          <p:nvPr/>
        </p:nvSpPr>
        <p:spPr>
          <a:xfrm>
            <a:off x="502920" y="2148840"/>
            <a:ext cx="3611880" cy="19202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99" cy="10515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B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202375" y="1645156"/>
            <a:ext cx="5394960" cy="777240"/>
          </a:xfrm>
          <a:prstGeom prst="rect">
            <a:avLst/>
          </a:prstGeom>
          <a:solidFill>
            <a:srgbClr val="1D8C81"/>
          </a:solidFill>
          <a:ln/>
        </p:spPr>
      </p:sp>
      <p:sp>
        <p:nvSpPr>
          <p:cNvPr id="13" name="Shape 10"/>
          <p:cNvSpPr/>
          <p:nvPr/>
        </p:nvSpPr>
        <p:spPr>
          <a:xfrm>
            <a:off x="6492240" y="1719072"/>
            <a:ext cx="548640" cy="548640"/>
          </a:xfrm>
          <a:prstGeom prst="ellipse">
            <a:avLst/>
          </a:prstGeom>
          <a:solidFill>
            <a:srgbClr val="2CB1A3"/>
          </a:solidFill>
          <a:ln/>
        </p:spPr>
      </p:sp>
      <p:pic>
        <p:nvPicPr>
          <p:cNvPr id="14" name="Image 1" descr="/home/claude/build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92" y="1857419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0267" y="1577917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31C7237-F4F0-4D16-877B-FF7CCB24D5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59456" y="-41572"/>
            <a:ext cx="998287" cy="905256"/>
          </a:xfrm>
          <a:prstGeom prst="rect">
            <a:avLst/>
          </a:prstGeom>
        </p:spPr>
      </p:pic>
      <p:sp>
        <p:nvSpPr>
          <p:cNvPr id="25" name="Rectangle 6">
            <a:extLst>
              <a:ext uri="{FF2B5EF4-FFF2-40B4-BE49-F238E27FC236}">
                <a16:creationId xmlns:a16="http://schemas.microsoft.com/office/drawing/2014/main" id="{9DC4B5FC-5788-40BB-ABAC-5C42C7CCE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2965" y="3329541"/>
            <a:ext cx="537563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676ED96-DFEC-4D7A-8CA4-FB9A0AF879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976" y="1633118"/>
            <a:ext cx="5334744" cy="3815995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B019FCE-097F-47C1-9A6A-C98B9B0ED937}"/>
              </a:ext>
            </a:extLst>
          </p:cNvPr>
          <p:cNvSpPr/>
          <p:nvPr/>
        </p:nvSpPr>
        <p:spPr>
          <a:xfrm>
            <a:off x="6202375" y="4345204"/>
            <a:ext cx="5394960" cy="11039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</a:rPr>
              <a:t>A secure, easy-to-understand banking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</a:rPr>
              <a:t>simulation is needed to demonstrate </a:t>
            </a:r>
            <a:r>
              <a:rPr lang="en-US" altLang="en-US" b="1" dirty="0">
                <a:solidFill>
                  <a:schemeClr val="tx1"/>
                </a:solidFill>
              </a:rPr>
              <a:t>OOP principles and security practices</a:t>
            </a:r>
            <a:r>
              <a:rPr lang="en-US" altLang="en-US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8C05293-391E-43E3-A772-045E86AAF5F6}"/>
              </a:ext>
            </a:extLst>
          </p:cNvPr>
          <p:cNvSpPr/>
          <p:nvPr/>
        </p:nvSpPr>
        <p:spPr>
          <a:xfrm>
            <a:off x="6202375" y="3359768"/>
            <a:ext cx="5394960" cy="985436"/>
          </a:xfrm>
          <a:prstGeom prst="rect">
            <a:avLst/>
          </a:prstGeom>
          <a:solidFill>
            <a:schemeClr val="accent1">
              <a:alpha val="1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altLang="en-US" dirty="0">
                <a:solidFill>
                  <a:schemeClr val="tx1"/>
                </a:solidFill>
              </a:rPr>
              <a:t>Most systems reset after each run and do not reflect </a:t>
            </a:r>
            <a:r>
              <a:rPr lang="en-US" altLang="en-US" b="1" dirty="0">
                <a:solidFill>
                  <a:schemeClr val="tx1"/>
                </a:solidFill>
              </a:rPr>
              <a:t>real-world banking operations</a:t>
            </a:r>
            <a:r>
              <a:rPr lang="en-US" altLang="en-US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3EB5AF9-BA43-413F-A292-7F81373DB644}"/>
              </a:ext>
            </a:extLst>
          </p:cNvPr>
          <p:cNvSpPr/>
          <p:nvPr/>
        </p:nvSpPr>
        <p:spPr>
          <a:xfrm>
            <a:off x="6202375" y="2422396"/>
            <a:ext cx="5394960" cy="9315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</a:rPr>
              <a:t>Many educational banking projects lack </a:t>
            </a:r>
            <a:r>
              <a:rPr lang="en-US" altLang="en-US" b="1" dirty="0">
                <a:solidFill>
                  <a:schemeClr val="tx1"/>
                </a:solidFill>
              </a:rPr>
              <a:t>data persistence, encryption, and secure password handling</a:t>
            </a:r>
            <a:r>
              <a:rPr lang="en-US" altLang="en-US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DA4D4A6-7A5D-4FF5-A274-AFB2A9EEAE6E}"/>
              </a:ext>
            </a:extLst>
          </p:cNvPr>
          <p:cNvSpPr/>
          <p:nvPr/>
        </p:nvSpPr>
        <p:spPr>
          <a:xfrm>
            <a:off x="441654" y="2465017"/>
            <a:ext cx="5264705" cy="9639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49870B3-B6CC-482F-B01A-B4E4DD2B695C}"/>
              </a:ext>
            </a:extLst>
          </p:cNvPr>
          <p:cNvSpPr/>
          <p:nvPr/>
        </p:nvSpPr>
        <p:spPr>
          <a:xfrm>
            <a:off x="441654" y="3429001"/>
            <a:ext cx="5264705" cy="10554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8686D0-FE08-463B-819B-767AF3D82E29}"/>
              </a:ext>
            </a:extLst>
          </p:cNvPr>
          <p:cNvSpPr/>
          <p:nvPr/>
        </p:nvSpPr>
        <p:spPr>
          <a:xfrm>
            <a:off x="425976" y="4484451"/>
            <a:ext cx="5280383" cy="9646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B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 &amp; BOUNDARIES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00855" y="1205614"/>
            <a:ext cx="11409825" cy="296019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02949" y="1523409"/>
            <a:ext cx="2761488" cy="1160534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9" y="1536192"/>
            <a:ext cx="91440" cy="1160534"/>
          </a:xfrm>
          <a:prstGeom prst="rect">
            <a:avLst/>
          </a:prstGeom>
          <a:solidFill>
            <a:srgbClr val="1D8C81"/>
          </a:solidFill>
          <a:ln/>
        </p:spPr>
      </p:sp>
      <p:sp>
        <p:nvSpPr>
          <p:cNvPr id="8" name="Text 6"/>
          <p:cNvSpPr/>
          <p:nvPr/>
        </p:nvSpPr>
        <p:spPr>
          <a:xfrm>
            <a:off x="390412" y="1517620"/>
            <a:ext cx="2759694" cy="11791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rtlCol="0" anchor="ctr"/>
          <a:lstStyle/>
          <a:p>
            <a:pPr algn="just">
              <a:lnSpc>
                <a:spcPct val="112000"/>
              </a:lnSpc>
            </a:pPr>
            <a:r>
              <a:rPr lang="en-US" sz="1600" dirty="0"/>
              <a:t>Develop an OOP banking system with accounts, ATM, online portal, and admin control</a:t>
            </a:r>
          </a:p>
        </p:txBody>
      </p:sp>
      <p:sp>
        <p:nvSpPr>
          <p:cNvPr id="9" name="Shape 7"/>
          <p:cNvSpPr/>
          <p:nvPr/>
        </p:nvSpPr>
        <p:spPr>
          <a:xfrm>
            <a:off x="3204973" y="1516999"/>
            <a:ext cx="2724912" cy="11759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</p:sp>
      <p:sp>
        <p:nvSpPr>
          <p:cNvPr id="10" name="Shape 8"/>
          <p:cNvSpPr/>
          <p:nvPr/>
        </p:nvSpPr>
        <p:spPr>
          <a:xfrm flipH="1">
            <a:off x="3150106" y="1526765"/>
            <a:ext cx="45721" cy="1197864"/>
          </a:xfrm>
          <a:prstGeom prst="rect">
            <a:avLst/>
          </a:prstGeom>
          <a:solidFill>
            <a:srgbClr val="1D8C81"/>
          </a:solidFill>
          <a:ln/>
        </p:spPr>
      </p:sp>
      <p:sp>
        <p:nvSpPr>
          <p:cNvPr id="11" name="Text 9"/>
          <p:cNvSpPr/>
          <p:nvPr/>
        </p:nvSpPr>
        <p:spPr>
          <a:xfrm>
            <a:off x="3195355" y="1587283"/>
            <a:ext cx="2679049" cy="1040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ct val="112000"/>
              </a:lnSpc>
            </a:pPr>
            <a:r>
              <a:rPr lang="en-US" sz="1600" dirty="0"/>
              <a:t>Design a modular OOP banking system with accounts, cards, ATM, online portal, and admin control</a:t>
            </a:r>
          </a:p>
        </p:txBody>
      </p:sp>
      <p:sp>
        <p:nvSpPr>
          <p:cNvPr id="12" name="Shape 10"/>
          <p:cNvSpPr/>
          <p:nvPr/>
        </p:nvSpPr>
        <p:spPr>
          <a:xfrm>
            <a:off x="5952743" y="1516999"/>
            <a:ext cx="2757058" cy="11605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</p:sp>
      <p:sp>
        <p:nvSpPr>
          <p:cNvPr id="13" name="Shape 11"/>
          <p:cNvSpPr/>
          <p:nvPr/>
        </p:nvSpPr>
        <p:spPr>
          <a:xfrm>
            <a:off x="5911596" y="1517621"/>
            <a:ext cx="45719" cy="1175900"/>
          </a:xfrm>
          <a:prstGeom prst="rect">
            <a:avLst/>
          </a:prstGeom>
          <a:solidFill>
            <a:srgbClr val="1D8C81"/>
          </a:solidFill>
          <a:ln/>
        </p:spPr>
      </p:sp>
      <p:sp>
        <p:nvSpPr>
          <p:cNvPr id="14" name="Text 12"/>
          <p:cNvSpPr/>
          <p:nvPr/>
        </p:nvSpPr>
        <p:spPr>
          <a:xfrm>
            <a:off x="6003035" y="1581015"/>
            <a:ext cx="2643792" cy="8844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ct val="112000"/>
              </a:lnSpc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Secure passwords using one-way SHA-256 hashing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732520" y="1527048"/>
            <a:ext cx="2926080" cy="1160534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1" y="1517620"/>
            <a:ext cx="45719" cy="1178727"/>
          </a:xfrm>
          <a:prstGeom prst="rect">
            <a:avLst/>
          </a:prstGeom>
          <a:solidFill>
            <a:srgbClr val="1D8C81"/>
          </a:solidFill>
          <a:ln/>
        </p:spPr>
      </p:sp>
      <p:sp>
        <p:nvSpPr>
          <p:cNvPr id="17" name="Text 15"/>
          <p:cNvSpPr/>
          <p:nvPr/>
        </p:nvSpPr>
        <p:spPr>
          <a:xfrm>
            <a:off x="8782055" y="1517620"/>
            <a:ext cx="2884791" cy="1110062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square" rtlCol="0" anchor="ctr"/>
          <a:lstStyle/>
          <a:p>
            <a:pPr algn="just">
              <a:lnSpc>
                <a:spcPct val="112000"/>
              </a:lnSpc>
            </a:pPr>
            <a:r>
              <a:rPr lang="en-US" dirty="0"/>
              <a:t>Ensure portability using standard C++11 and no external libraries.</a:t>
            </a:r>
          </a:p>
        </p:txBody>
      </p:sp>
      <p:sp>
        <p:nvSpPr>
          <p:cNvPr id="18" name="Text 16"/>
          <p:cNvSpPr/>
          <p:nvPr/>
        </p:nvSpPr>
        <p:spPr>
          <a:xfrm>
            <a:off x="300855" y="2800052"/>
            <a:ext cx="11409826" cy="31666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90818" y="3140049"/>
            <a:ext cx="5835662" cy="460673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35225" y="3213659"/>
            <a:ext cx="365760" cy="365760"/>
          </a:xfrm>
          <a:prstGeom prst="ellipse">
            <a:avLst/>
          </a:prstGeom>
          <a:solidFill>
            <a:srgbClr val="1D8C81"/>
          </a:solidFill>
          <a:ln/>
        </p:spPr>
      </p:sp>
      <p:pic>
        <p:nvPicPr>
          <p:cNvPr id="22" name="Image 0" descr="/home/claude/build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23" y="3291840"/>
            <a:ext cx="175565" cy="17556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46988" y="3087014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-1124713" y="204685"/>
            <a:ext cx="5669280" cy="3026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6310381" y="3140048"/>
            <a:ext cx="5400299" cy="449885"/>
          </a:xfrm>
          <a:prstGeom prst="rect">
            <a:avLst/>
          </a:prstGeom>
          <a:solidFill>
            <a:srgbClr val="5B6478"/>
          </a:solidFill>
          <a:ln/>
        </p:spPr>
      </p:sp>
      <p:sp>
        <p:nvSpPr>
          <p:cNvPr id="27" name="Shape 24"/>
          <p:cNvSpPr/>
          <p:nvPr/>
        </p:nvSpPr>
        <p:spPr>
          <a:xfrm>
            <a:off x="6391656" y="3179737"/>
            <a:ext cx="365760" cy="365760"/>
          </a:xfrm>
          <a:prstGeom prst="ellipse">
            <a:avLst/>
          </a:prstGeom>
          <a:solidFill>
            <a:srgbClr val="1D8C81"/>
          </a:solidFill>
          <a:ln/>
        </p:spPr>
      </p:sp>
      <p:pic>
        <p:nvPicPr>
          <p:cNvPr id="28" name="Image 1" descr="/home/claude/build/icons/tim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675" y="3296044"/>
            <a:ext cx="175565" cy="175565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757415" y="3086468"/>
            <a:ext cx="453860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-1445713" y="945774"/>
            <a:ext cx="5394961" cy="2590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0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endParaRPr lang="en-US" sz="1700" dirty="0"/>
          </a:p>
        </p:txBody>
      </p:sp>
      <p:sp>
        <p:nvSpPr>
          <p:cNvPr id="32" name="Text 28"/>
          <p:cNvSpPr/>
          <p:nvPr/>
        </p:nvSpPr>
        <p:spPr>
          <a:xfrm>
            <a:off x="11475918" y="6527923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8E70D76-6956-43D5-AE73-56C3BA2775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59456" y="-41572"/>
            <a:ext cx="998287" cy="905256"/>
          </a:xfrm>
          <a:prstGeom prst="rect">
            <a:avLst/>
          </a:prstGeom>
        </p:spPr>
      </p:pic>
      <p:sp>
        <p:nvSpPr>
          <p:cNvPr id="34" name="Shape 11">
            <a:extLst>
              <a:ext uri="{FF2B5EF4-FFF2-40B4-BE49-F238E27FC236}">
                <a16:creationId xmlns:a16="http://schemas.microsoft.com/office/drawing/2014/main" id="{2D96178F-69F2-4419-BBD2-849B4000A334}"/>
              </a:ext>
            </a:extLst>
          </p:cNvPr>
          <p:cNvSpPr/>
          <p:nvPr/>
        </p:nvSpPr>
        <p:spPr>
          <a:xfrm>
            <a:off x="11664962" y="1501633"/>
            <a:ext cx="45719" cy="1175900"/>
          </a:xfrm>
          <a:prstGeom prst="rect">
            <a:avLst/>
          </a:prstGeom>
          <a:solidFill>
            <a:srgbClr val="1D8C81"/>
          </a:solidFill>
          <a:ln/>
        </p:spPr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8E42986-EF03-4EE7-8A75-F96625747912}"/>
              </a:ext>
            </a:extLst>
          </p:cNvPr>
          <p:cNvCxnSpPr>
            <a:stCxn id="7" idx="0"/>
            <a:endCxn id="34" idx="0"/>
          </p:cNvCxnSpPr>
          <p:nvPr/>
        </p:nvCxnSpPr>
        <p:spPr>
          <a:xfrm flipV="1">
            <a:off x="338329" y="1501633"/>
            <a:ext cx="11349493" cy="34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B53659F-45EB-4946-8A38-CB22C9A72E87}"/>
              </a:ext>
            </a:extLst>
          </p:cNvPr>
          <p:cNvCxnSpPr>
            <a:stCxn id="7" idx="2"/>
            <a:endCxn id="34" idx="2"/>
          </p:cNvCxnSpPr>
          <p:nvPr/>
        </p:nvCxnSpPr>
        <p:spPr>
          <a:xfrm flipV="1">
            <a:off x="338329" y="2677533"/>
            <a:ext cx="11349493" cy="191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7A64A91B-F037-4D90-9C12-C42148D6C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963521"/>
              </p:ext>
            </p:extLst>
          </p:nvPr>
        </p:nvGraphicFramePr>
        <p:xfrm>
          <a:off x="300855" y="3572820"/>
          <a:ext cx="5825625" cy="3116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5625">
                  <a:extLst>
                    <a:ext uri="{9D8B030D-6E8A-4147-A177-3AD203B41FA5}">
                      <a16:colId xmlns:a16="http://schemas.microsoft.com/office/drawing/2014/main" val="137020413"/>
                    </a:ext>
                  </a:extLst>
                </a:gridCol>
              </a:tblGrid>
              <a:tr h="60128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lifecycle: create, deposit, withdraw, transfer, balance enquiry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090285"/>
                  </a:ext>
                </a:extLst>
              </a:tr>
              <a:tr h="398908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issuance, PIN verification, auto-block, admin unblock</a:t>
                      </a:r>
                      <a:endParaRPr lang="en-US" sz="18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481562"/>
                  </a:ext>
                </a:extLst>
              </a:tr>
              <a:tr h="60982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 withdrawal (daily limit 20,000 BDT) + simulated MFA/OTP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048210"/>
                  </a:ext>
                </a:extLst>
              </a:tr>
              <a:tr h="398908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registration, authentication &amp; lockout after failed logins</a:t>
                      </a:r>
                      <a:endParaRPr lang="en-US" sz="18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96921"/>
                  </a:ext>
                </a:extLst>
              </a:tr>
              <a:tr h="60982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portal: transfer, bill payment, new-account application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658419"/>
                  </a:ext>
                </a:extLst>
              </a:tr>
              <a:tr h="398908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2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panel · encrypted persistence · SHA-256 hashing</a:t>
                      </a:r>
                      <a:endParaRPr lang="en-US" sz="18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68017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02D8C789-5A2F-4F2A-9EF9-476D767E66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298023"/>
              </p:ext>
            </p:extLst>
          </p:nvPr>
        </p:nvGraphicFramePr>
        <p:xfrm>
          <a:off x="6307623" y="3598298"/>
          <a:ext cx="5403057" cy="3116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057">
                  <a:extLst>
                    <a:ext uri="{9D8B030D-6E8A-4147-A177-3AD203B41FA5}">
                      <a16:colId xmlns:a16="http://schemas.microsoft.com/office/drawing/2014/main" val="1002367775"/>
                    </a:ext>
                  </a:extLst>
                </a:gridCol>
              </a:tblGrid>
              <a:tr h="3943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Graphical user interface — system is console-driven by design</a:t>
                      </a:r>
                      <a:endParaRPr 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187343"/>
                  </a:ext>
                </a:extLst>
              </a:tr>
              <a:tr h="4952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network / SMS / email delivery for OTP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206576"/>
                  </a:ext>
                </a:extLst>
              </a:tr>
              <a:tr h="495250">
                <a:tc>
                  <a:txBody>
                    <a:bodyPr/>
                    <a:lstStyle/>
                    <a:p>
                      <a:pPr marL="0" indent="0">
                        <a:lnSpc>
                          <a:spcPct val="105000"/>
                        </a:lnSpc>
                        <a:spcAft>
                          <a:spcPts val="800"/>
                        </a:spcAft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with an actual payment network</a:t>
                      </a:r>
                      <a:endParaRPr 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57886"/>
                  </a:ext>
                </a:extLst>
              </a:tr>
              <a:tr h="495250">
                <a:tc>
                  <a:txBody>
                    <a:bodyPr/>
                    <a:lstStyle/>
                    <a:p>
                      <a:pPr marL="0" indent="0">
                        <a:lnSpc>
                          <a:spcPct val="105000"/>
                        </a:lnSpc>
                        <a:spcAft>
                          <a:spcPts val="800"/>
                        </a:spcAft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Multi-user concurrency or distributed storage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683841"/>
                  </a:ext>
                </a:extLst>
              </a:tr>
              <a:tr h="495250">
                <a:tc>
                  <a:txBody>
                    <a:bodyPr/>
                    <a:lstStyle/>
                    <a:p>
                      <a:pPr marL="0" indent="0">
                        <a:lnSpc>
                          <a:spcPct val="105000"/>
                        </a:lnSpc>
                        <a:spcAft>
                          <a:spcPts val="800"/>
                        </a:spcAft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lang="en-US" sz="1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database backend</a:t>
                      </a:r>
                      <a:endParaRPr lang="en-US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329997"/>
                  </a:ext>
                </a:extLst>
              </a:tr>
              <a:tr h="4952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certifications (PCI-DSS, ISO 27001)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5682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B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9081" y="13180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D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 REQUIREMENTS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39671"/>
              </p:ext>
            </p:extLst>
          </p:nvPr>
        </p:nvGraphicFramePr>
        <p:xfrm>
          <a:off x="259081" y="1737549"/>
          <a:ext cx="7406640" cy="464312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8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FR-01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Account Operations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Deposit, withdrawal, transfer &amp; balance enquiry.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FR-02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Card Authentication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Verify PIN; block card after 3 consecutive failures.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FR-03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ATM Withdrawal Limit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Configurable daily withdrawal limit (20,000 BDT).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FR-05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User Authentication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Username/password login; lock account after 3 fails.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FR-06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Password Hashing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SHA-256 hash every password before storing/comparing.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FR-08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Multi-Factor Auth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Sensitive operations require simulated OTP confirmation.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FR-09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Admin Control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Unblock cards, unlock accounts, review applications.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FR-11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Data Persistence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All data persists across restarts via encrypted files.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076895" y="1754224"/>
            <a:ext cx="347472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&amp; ENVIRONMENT</a:t>
            </a:r>
            <a:endParaRPr lang="en-US" sz="1500" dirty="0">
              <a:solidFill>
                <a:srgbClr val="00B0F0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8086039" y="2158403"/>
            <a:ext cx="3456432" cy="6217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110728" y="222199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86039" y="2516673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C++11+, no third-party library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86039" y="2898647"/>
            <a:ext cx="3456432" cy="6217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</p:sp>
      <p:sp>
        <p:nvSpPr>
          <p:cNvPr id="12" name="Text 9"/>
          <p:cNvSpPr/>
          <p:nvPr/>
        </p:nvSpPr>
        <p:spPr>
          <a:xfrm>
            <a:off x="8168335" y="2916935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30901" y="3209543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One-way hashed passwords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86039" y="3648457"/>
            <a:ext cx="3456432" cy="6217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</p:sp>
      <p:sp>
        <p:nvSpPr>
          <p:cNvPr id="15" name="Text 12"/>
          <p:cNvSpPr/>
          <p:nvPr/>
        </p:nvSpPr>
        <p:spPr>
          <a:xfrm>
            <a:off x="8168335" y="3679281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10728" y="394945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security event traceable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76895" y="4389121"/>
            <a:ext cx="3490265" cy="6217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</p:sp>
      <p:sp>
        <p:nvSpPr>
          <p:cNvPr id="18" name="Text 15"/>
          <p:cNvSpPr/>
          <p:nvPr/>
        </p:nvSpPr>
        <p:spPr>
          <a:xfrm>
            <a:off x="8214055" y="44847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168335" y="4700017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exception handling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076895" y="5146229"/>
            <a:ext cx="3490265" cy="1234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1" name="Text 18"/>
          <p:cNvSpPr/>
          <p:nvPr/>
        </p:nvSpPr>
        <p:spPr>
          <a:xfrm>
            <a:off x="8259775" y="5283389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≥7 · Clang ≥6 · MSVC ≥2017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C++11 standard, Standard Library only.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Windows / Linux / macOS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D19D321-5196-4FDB-9064-0991212F05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59456" y="-41572"/>
            <a:ext cx="998287" cy="9052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B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Five-Layer Architecture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1155680" cy="86868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27048"/>
            <a:ext cx="548640" cy="54864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</p:sp>
      <p:pic>
        <p:nvPicPr>
          <p:cNvPr id="7" name="Image 0" descr="/home/claude/build/icons/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1669694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2806" y="1527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Console Client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381579" y="1431036"/>
            <a:ext cx="756736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— single entry point; renders the numbered menu and routes choices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02920" y="2350008"/>
            <a:ext cx="11155680" cy="868680"/>
          </a:xfrm>
          <a:prstGeom prst="rect">
            <a:avLst/>
          </a:prstGeom>
          <a:solidFill>
            <a:schemeClr val="bg2">
              <a:lumMod val="10000"/>
            </a:schemeClr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2505456"/>
            <a:ext cx="548640" cy="54864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</p:sp>
      <p:pic>
        <p:nvPicPr>
          <p:cNvPr id="12" name="Image 1" descr="/home/claude/build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" y="2648102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4414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Layer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381579" y="2441448"/>
            <a:ext cx="727702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· BankPortal · Admin Control Panel · Account Status Check — one user journey each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502920" y="3328416"/>
            <a:ext cx="11155680" cy="868680"/>
          </a:xfrm>
          <a:prstGeom prst="rect">
            <a:avLst/>
          </a:prstGeom>
          <a:solidFill>
            <a:srgbClr val="2B4A87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" y="3483864"/>
            <a:ext cx="548640" cy="548640"/>
          </a:xfrm>
          <a:prstGeom prst="ellipse">
            <a:avLst/>
          </a:prstGeom>
          <a:solidFill>
            <a:schemeClr val="accent6">
              <a:lumMod val="75000"/>
            </a:schemeClr>
          </a:solidFill>
          <a:ln/>
        </p:spPr>
      </p:sp>
      <p:pic>
        <p:nvPicPr>
          <p:cNvPr id="17" name="Image 2" descr="/home/claude/build/icons/id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3626510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41985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Layer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381579" y="3419856"/>
            <a:ext cx="727702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· Card · User · AccountApplication — state &amp; business rules per bounded context</a:t>
            </a:r>
            <a:endParaRPr lang="en-US" dirty="0"/>
          </a:p>
        </p:txBody>
      </p:sp>
      <p:sp>
        <p:nvSpPr>
          <p:cNvPr id="20" name="Shape 15"/>
          <p:cNvSpPr/>
          <p:nvPr/>
        </p:nvSpPr>
        <p:spPr>
          <a:xfrm>
            <a:off x="502920" y="4306824"/>
            <a:ext cx="11155680" cy="86868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21" name="Shape 16"/>
          <p:cNvSpPr/>
          <p:nvPr/>
        </p:nvSpPr>
        <p:spPr>
          <a:xfrm>
            <a:off x="731520" y="4462272"/>
            <a:ext cx="548640" cy="548640"/>
          </a:xfrm>
          <a:prstGeom prst="ellipse">
            <a:avLst/>
          </a:prstGeom>
          <a:solidFill>
            <a:schemeClr val="accent5">
              <a:lumMod val="75000"/>
            </a:schemeClr>
          </a:solidFill>
          <a:ln/>
        </p:spPr>
      </p:sp>
      <p:pic>
        <p:nvPicPr>
          <p:cNvPr id="22" name="Image 3" descr="/home/claude/build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" y="4604918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39826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4381579" y="4398264"/>
            <a:ext cx="727702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SecuritySystem — SHA-256, XOR cipher, OTP, timestamping, audit logging</a:t>
            </a:r>
            <a:endParaRPr lang="en-US" dirty="0"/>
          </a:p>
        </p:txBody>
      </p:sp>
      <p:sp>
        <p:nvSpPr>
          <p:cNvPr id="25" name="Shape 19"/>
          <p:cNvSpPr/>
          <p:nvPr/>
        </p:nvSpPr>
        <p:spPr>
          <a:xfrm>
            <a:off x="502920" y="5285232"/>
            <a:ext cx="11155680" cy="86868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6" name="Shape 20"/>
          <p:cNvSpPr/>
          <p:nvPr/>
        </p:nvSpPr>
        <p:spPr>
          <a:xfrm>
            <a:off x="731520" y="5440680"/>
            <a:ext cx="548640" cy="5486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pic>
        <p:nvPicPr>
          <p:cNvPr id="27" name="Image 4" descr="/home/claude/build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166" y="5583326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53766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</a:t>
            </a: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4381579" y="5376672"/>
            <a:ext cx="727702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db_accounts · db_cards · db_users · db_applications · transaction_history · audit_log</a:t>
            </a: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0765727-8501-43DB-B884-9423AB4B6C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59456" y="-41572"/>
            <a:ext cx="998287" cy="9052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B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Responsibilities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611880" cy="2148840"/>
          </a:xfrm>
          <a:prstGeom prst="rect">
            <a:avLst/>
          </a:prstGeom>
          <a:solidFill>
            <a:srgbClr val="EEF1F7"/>
          </a:solidFill>
          <a:ln>
            <a:solidFill>
              <a:schemeClr val="accent1"/>
            </a:solidFill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3611880" cy="457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3600" dirty="0">
              <a:solidFill>
                <a:srgbClr val="00B05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833128"/>
            <a:ext cx="3611880" cy="762745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accountNumber, balance, accountType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22343" y="2624153"/>
            <a:ext cx="3977640" cy="8205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deposit/withdraw/transfer logic; persists every change immediately.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297680" y="1390454"/>
            <a:ext cx="3611880" cy="2148840"/>
          </a:xfrm>
          <a:prstGeom prst="rect">
            <a:avLst/>
          </a:prstGeom>
          <a:solidFill>
            <a:srgbClr val="EEF1F7"/>
          </a:solidFill>
          <a:ln>
            <a:solidFill>
              <a:schemeClr val="accent5"/>
            </a:solidFill>
          </a:ln>
        </p:spPr>
      </p:sp>
      <p:sp>
        <p:nvSpPr>
          <p:cNvPr id="11" name="Shape 9"/>
          <p:cNvSpPr/>
          <p:nvPr/>
        </p:nvSpPr>
        <p:spPr>
          <a:xfrm>
            <a:off x="4297680" y="1371600"/>
            <a:ext cx="361188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</p:sp>
      <p:sp>
        <p:nvSpPr>
          <p:cNvPr id="12" name="Text 10"/>
          <p:cNvSpPr/>
          <p:nvPr/>
        </p:nvSpPr>
        <p:spPr>
          <a:xfrm>
            <a:off x="4480560" y="13716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97680" y="1833127"/>
            <a:ext cx="3611880" cy="762745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cardNumber, pin, pinAttempts, isBlocked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43044" y="2461876"/>
            <a:ext cx="3893820" cy="9601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PIN, tracks failures, self-blocks after 3, supports admin unblock.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092440" y="1371600"/>
            <a:ext cx="3611880" cy="2148840"/>
          </a:xfrm>
          <a:prstGeom prst="rect">
            <a:avLst/>
          </a:prstGeom>
          <a:solidFill>
            <a:srgbClr val="EEF1F7"/>
          </a:solidFill>
          <a:ln>
            <a:solidFill>
              <a:schemeClr val="accent1"/>
            </a:solidFill>
          </a:ln>
        </p:spPr>
      </p:sp>
      <p:sp>
        <p:nvSpPr>
          <p:cNvPr id="16" name="Shape 14"/>
          <p:cNvSpPr/>
          <p:nvPr/>
        </p:nvSpPr>
        <p:spPr>
          <a:xfrm>
            <a:off x="8092440" y="1371600"/>
            <a:ext cx="3611880" cy="457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</p:sp>
      <p:sp>
        <p:nvSpPr>
          <p:cNvPr id="17" name="Text 15"/>
          <p:cNvSpPr/>
          <p:nvPr/>
        </p:nvSpPr>
        <p:spPr>
          <a:xfrm>
            <a:off x="8275320" y="13716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8092440" y="1818925"/>
            <a:ext cx="3611880" cy="776948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dailyLimit, currentDailyWithdrawn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191500" y="2490157"/>
            <a:ext cx="3413760" cy="9601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PIN check, daily-limit enforcement &amp; OTP confirmation.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3611880" cy="2148840"/>
          </a:xfrm>
          <a:prstGeom prst="rect">
            <a:avLst/>
          </a:prstGeom>
          <a:solidFill>
            <a:srgbClr val="EEF1F7"/>
          </a:solidFill>
          <a:ln>
            <a:solidFill>
              <a:schemeClr val="accent1"/>
            </a:solidFill>
          </a:ln>
        </p:spPr>
      </p:sp>
      <p:sp>
        <p:nvSpPr>
          <p:cNvPr id="21" name="Shape 19"/>
          <p:cNvSpPr/>
          <p:nvPr/>
        </p:nvSpPr>
        <p:spPr>
          <a:xfrm>
            <a:off x="502920" y="3749040"/>
            <a:ext cx="361188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</p:sp>
      <p:sp>
        <p:nvSpPr>
          <p:cNvPr id="22" name="Text 20"/>
          <p:cNvSpPr/>
          <p:nvPr/>
        </p:nvSpPr>
        <p:spPr>
          <a:xfrm>
            <a:off x="685800" y="37490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920" y="4206239"/>
            <a:ext cx="3611880" cy="614108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username, password (SHA-256 hash), loginAttempts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4360" y="4820347"/>
            <a:ext cx="3429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authentication; hashes &amp; verifies; self-locks after 3 failures.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297680" y="3749040"/>
            <a:ext cx="3611880" cy="2148840"/>
          </a:xfrm>
          <a:prstGeom prst="rect">
            <a:avLst/>
          </a:prstGeom>
          <a:solidFill>
            <a:srgbClr val="EEF1F7"/>
          </a:solidFill>
          <a:ln>
            <a:solidFill>
              <a:schemeClr val="accent1"/>
            </a:solidFill>
          </a:ln>
        </p:spPr>
      </p:sp>
      <p:sp>
        <p:nvSpPr>
          <p:cNvPr id="26" name="Shape 24"/>
          <p:cNvSpPr/>
          <p:nvPr/>
        </p:nvSpPr>
        <p:spPr>
          <a:xfrm>
            <a:off x="4297680" y="3749040"/>
            <a:ext cx="3611880" cy="4572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</p:sp>
      <p:sp>
        <p:nvSpPr>
          <p:cNvPr id="27" name="Text 25"/>
          <p:cNvSpPr/>
          <p:nvPr/>
        </p:nvSpPr>
        <p:spPr>
          <a:xfrm>
            <a:off x="4480560" y="37490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BankPortal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297680" y="4198016"/>
            <a:ext cx="3611880" cy="634295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inactivityCounter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370799" y="4773168"/>
            <a:ext cx="345040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applications, transfer/bill-pay journeys, session-timeout tracking.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8092440" y="3749040"/>
            <a:ext cx="3625078" cy="2031427"/>
          </a:xfrm>
          <a:prstGeom prst="rect">
            <a:avLst/>
          </a:prstGeom>
          <a:solidFill>
            <a:srgbClr val="EEF1F7"/>
          </a:solidFill>
          <a:ln>
            <a:solidFill>
              <a:schemeClr val="accent1"/>
            </a:solidFill>
          </a:ln>
        </p:spPr>
      </p:sp>
      <p:sp>
        <p:nvSpPr>
          <p:cNvPr id="31" name="Shape 29"/>
          <p:cNvSpPr/>
          <p:nvPr/>
        </p:nvSpPr>
        <p:spPr>
          <a:xfrm>
            <a:off x="8092440" y="3749040"/>
            <a:ext cx="3625078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</p:sp>
      <p:sp>
        <p:nvSpPr>
          <p:cNvPr id="32" name="Text 30"/>
          <p:cNvSpPr/>
          <p:nvPr/>
        </p:nvSpPr>
        <p:spPr>
          <a:xfrm>
            <a:off x="8275320" y="37490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SecuritySystem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8092440" y="4206239"/>
            <a:ext cx="3625078" cy="626071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(stateless utility)</a:t>
            </a:r>
            <a:endParaRPr lang="en-US" sz="1600" dirty="0">
              <a:solidFill>
                <a:srgbClr val="00B0F0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8149590" y="4773168"/>
            <a:ext cx="34975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SHA-256, XOR, OTP, timestamping, audit log, all file save/load routines.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7E78517-CB47-42A5-B709-D32DC7188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59456" y="-41572"/>
            <a:ext cx="998287" cy="9052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B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· SECURITYSYSTEM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 — Hand-Written, FIPS 180-4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409732"/>
            <a:ext cx="6858000" cy="5006826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417320"/>
            <a:ext cx="685800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SecuritySystem.cpp — sha256()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709344"/>
            <a:ext cx="6492240" cy="4707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uint32_t rightRotate(uint32_t v, unsigned c) {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(v &gt;&gt; c) | (v &lt;&lt; (32 - c));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64-round compression loop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64; i++) {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uint32_t S1 = rightRotate(e,6) ^ rightRotate(e,11)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^ rightRotate(e,25);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uint32_t ch  = (e &amp; f) ^ ((~e) &amp; g);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uint32_t t1  = hh + S1 + ch + k[i] + w[i];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uint32_t S0  = rightRotate(a,2) ^ rightRotate(a,13)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^ rightRotate(a,22);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uint32_t maj = (a &amp; b) ^ (a &amp; c) ^ (b &amp; c);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uint32_t t2  = S0 + </a:t>
            </a:r>
            <a:r>
              <a:rPr lang="en-US" sz="14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maj</a:t>
            </a: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hh=g; g=f; f=e; e=d+t1;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d=c; c=b; b=a; a=t1+t2;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579151" y="1409732"/>
            <a:ext cx="4201369" cy="30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579151" y="1709344"/>
            <a:ext cx="4201369" cy="46133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Maps any input to a fixed 256-bit (64 hex-char) digest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One-way: infeasible to recover the password from its hash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Avalanche effect — one changed character produces a totally different digest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from scratch — zero crypto library dependency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official FIPS 180-4 test vectors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E92BD5-44B2-4B4C-8D77-08767C9A7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59456" y="-41572"/>
            <a:ext cx="998287" cy="9052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CB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· SECURITYSYSTEM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Cipher &amp; Simulated OTP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532120" cy="4899822"/>
          </a:xfrm>
          <a:prstGeom prst="rect">
            <a:avLst/>
          </a:prstGeom>
          <a:solidFill>
            <a:srgbClr val="EEF1F7"/>
          </a:solidFill>
          <a:ln>
            <a:solidFill>
              <a:schemeClr val="accent5"/>
            </a:solidFill>
          </a:ln>
        </p:spPr>
      </p:sp>
      <p:sp>
        <p:nvSpPr>
          <p:cNvPr id="6" name="Shape 4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D8C81"/>
          </a:solidFill>
          <a:ln/>
        </p:spPr>
      </p:sp>
      <p:pic>
        <p:nvPicPr>
          <p:cNvPr id="7" name="Image 0" descr="/home/claude/build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6276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508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Cipher — encryptDecrypt()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716280" y="2103120"/>
            <a:ext cx="5090160" cy="17830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288112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char XOR_KEY = 'K';  // ASCII 75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string encryptDecrypt(const string&amp; d) {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out = d;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(size_t i=0; i&lt;d.size(); i++)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out[i] = d[i] ^ XOR_KEY;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out;  // decrypt == encrypt</a:t>
            </a:r>
            <a:endParaRPr lang="en-US" sz="1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716280" y="3886200"/>
            <a:ext cx="5090160" cy="2137528"/>
          </a:xfrm>
          <a:prstGeom prst="rect">
            <a:avLst/>
          </a:prstGeom>
          <a:solidFill>
            <a:srgbClr val="FCEFEA"/>
          </a:solidFill>
          <a:ln>
            <a:solidFill>
              <a:schemeClr val="tx2"/>
            </a:solidFill>
          </a:ln>
        </p:spPr>
      </p:sp>
      <p:sp>
        <p:nvSpPr>
          <p:cNvPr id="12" name="Shape 9"/>
          <p:cNvSpPr/>
          <p:nvPr/>
        </p:nvSpPr>
        <p:spPr>
          <a:xfrm>
            <a:off x="868680" y="4023360"/>
            <a:ext cx="365760" cy="365760"/>
          </a:xfrm>
          <a:prstGeom prst="ellipse">
            <a:avLst/>
          </a:prstGeom>
          <a:solidFill>
            <a:srgbClr val="C77B12"/>
          </a:solidFill>
          <a:ln/>
        </p:spPr>
      </p:sp>
      <p:pic>
        <p:nvPicPr>
          <p:cNvPr id="13" name="Image 1" descr="/home/claude/build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8" y="4118458"/>
            <a:ext cx="175565" cy="1755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10031" y="3886200"/>
            <a:ext cx="4496409" cy="2047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obfuscation is NOT cryptographically strong — a single repeating-byte key is recoverable via frequency analysis. It's a lightweight layer on top of password hashing, not a substitute for it.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6153912" y="1325879"/>
            <a:ext cx="5504688" cy="4899821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6" name="Shape 12"/>
          <p:cNvSpPr/>
          <p:nvPr/>
        </p:nvSpPr>
        <p:spPr>
          <a:xfrm>
            <a:off x="6492240" y="1508760"/>
            <a:ext cx="457200" cy="457200"/>
          </a:xfrm>
          <a:prstGeom prst="ellipse">
            <a:avLst/>
          </a:prstGeom>
          <a:solidFill>
            <a:srgbClr val="2CB1A3"/>
          </a:solidFill>
          <a:ln/>
        </p:spPr>
      </p:sp>
      <p:pic>
        <p:nvPicPr>
          <p:cNvPr id="17" name="Image 2" descr="/home/claude/build/icons/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162763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86600" y="1508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OTP — verifyOTP()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6611112" y="2100980"/>
            <a:ext cx="4937760" cy="315468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srand((unsigned)time(0));</a:t>
            </a:r>
            <a:endParaRPr 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otp = rand() % 9000 + 1000; // 4-digit</a:t>
            </a:r>
            <a:endParaRPr 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"[SMS Gateway Simulated]: "</a:t>
            </a:r>
            <a:endParaRPr 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&lt;&lt; "Your OTP is: " &lt;&lt; otp;</a:t>
            </a:r>
            <a:endParaRPr 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inputOTP;</a:t>
            </a:r>
            <a:endParaRPr 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endParaRPr 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(inputOTP == otp) {</a:t>
            </a:r>
            <a:endParaRPr 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logEvent("OTP verification passed.");</a:t>
            </a:r>
            <a:endParaRPr 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true;</a:t>
            </a:r>
            <a:endParaRPr 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logEvent("ALERT: Failed OTP attempt.");</a:t>
            </a:r>
            <a:endParaRPr 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1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false;</a:t>
            </a:r>
            <a:endParaRPr 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Text 15"/>
          <p:cNvSpPr/>
          <p:nvPr/>
        </p:nvSpPr>
        <p:spPr>
          <a:xfrm>
            <a:off x="6324600" y="5230368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solidFill>
                  <a:srgbClr val="2CB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Operations: </a:t>
            </a:r>
            <a:r>
              <a:rPr lang="en-US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withdrawal · Fund transfer · Utility bill payment</a:t>
            </a: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1D9169F-242C-464F-B612-2988BED140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59456" y="-41572"/>
            <a:ext cx="998287" cy="9052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CB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· USER &amp; CARD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3-Strikes Lockout Policy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6263640" y="1280160"/>
            <a:ext cx="5394959" cy="2401822"/>
          </a:xfrm>
          <a:prstGeom prst="rect">
            <a:avLst/>
          </a:prstGeom>
          <a:solidFill>
            <a:srgbClr val="EEF1F7"/>
          </a:solidFill>
          <a:ln>
            <a:solidFill>
              <a:schemeClr val="tx2"/>
            </a:solidFill>
          </a:ln>
        </p:spPr>
      </p:sp>
      <p:sp>
        <p:nvSpPr>
          <p:cNvPr id="36" name="Shape 34"/>
          <p:cNvSpPr/>
          <p:nvPr/>
        </p:nvSpPr>
        <p:spPr>
          <a:xfrm>
            <a:off x="6492240" y="1463040"/>
            <a:ext cx="457200" cy="457200"/>
          </a:xfrm>
          <a:prstGeom prst="ellipse">
            <a:avLst/>
          </a:prstGeom>
          <a:solidFill>
            <a:srgbClr val="1D8C81"/>
          </a:solidFill>
          <a:ln/>
        </p:spPr>
      </p:sp>
      <p:pic>
        <p:nvPicPr>
          <p:cNvPr id="37" name="Image 0" descr="/home/claude/build/icons/b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581912"/>
            <a:ext cx="219456" cy="219456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086600" y="14630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3-Strikes Policy</a:t>
            </a: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492240" y="20574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wrong passwords → User account LOCKED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wrong PINs → Card BLOCKED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 admin can lift either restriction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lockout event is written to audit_log.txt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263639" y="3782566"/>
            <a:ext cx="5394960" cy="248639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41" name="Text 38"/>
          <p:cNvSpPr/>
          <p:nvPr/>
        </p:nvSpPr>
        <p:spPr>
          <a:xfrm>
            <a:off x="6430975" y="39502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B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 demo — login lockout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492240" y="4521708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wrongPass1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Wrong password! Attempts remaining: 2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wrongPass2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Wrong password! Attempts remaining: 1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wrongPass3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[SECURITY ALERT]: Account locked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due to 3 failed login attempts!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679C0D1-62A2-469F-989B-3604B9EEBD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59456" y="-41572"/>
            <a:ext cx="998287" cy="90525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B61BEA14-C55A-4696-A9D2-313F259122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00" y="2291190"/>
            <a:ext cx="6020640" cy="33180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B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 &amp; Save/Load Flow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090021"/>
              </p:ext>
            </p:extLst>
          </p:nvPr>
        </p:nvGraphicFramePr>
        <p:xfrm>
          <a:off x="518007" y="1737359"/>
          <a:ext cx="11155680" cy="338328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Encrypted?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Contents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db_accounts.dat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D8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(XOR)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number · Balance · Account 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db_cards.dat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D8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(XOR)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number · PIN · Blocked flag · Fail count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db_users.dat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D8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(XOR)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 · SHA-256 hash · Locked · Linked acc/card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db_applications.dat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D8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(XOR)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name · Username · NID · Face-verify status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transaction_history.txt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D8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(XOR)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 · Acc# · Type · Amount · Balance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audit_log.txt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TEXT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events — intentionally readable for audit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41655" y="5545412"/>
            <a:ext cx="11155680" cy="777240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7" name="Text 4"/>
          <p:cNvSpPr/>
          <p:nvPr/>
        </p:nvSpPr>
        <p:spPr>
          <a:xfrm>
            <a:off x="472135" y="5490972"/>
            <a:ext cx="1112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Save-Immediately Pattern:  </a:t>
            </a: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operation persists to disk instantly — the on-disk state is never more than one operation behind the in-memory state.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8A9C33-5027-40B6-988A-F0E60AFEC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59456" y="-41572"/>
            <a:ext cx="998287" cy="9052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CB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 / OUTPUT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Workflow — ATM Withdrawal with MFA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19" y="1371600"/>
            <a:ext cx="6949433" cy="5084064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B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ATM Simulation — withdrawal with OTP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your option: 1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ATM Simulation Module ---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Username to insert card: tarikul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ATM PIN: 1234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withdrawal amount (BDT): 5000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[ATM Security] Verifying via MFA...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[SMS Gateway Simulated]: Your OTP: 4729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the OTP sent to your phone: 4729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OTP verification successful.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Withdrawal successful: 5000.00 BDT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Current Balance: 20000.00 BDT &lt;&lt;&lt;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 daily ATM limit: 15000.00 BDT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35240" y="1371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D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SESSION 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35240" y="1737360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38160" y="17373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Card (username)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18120" y="2103120"/>
            <a:ext cx="0" cy="320040"/>
          </a:xfrm>
          <a:prstGeom prst="line">
            <a:avLst/>
          </a:prstGeom>
          <a:noFill/>
          <a:ln w="19050">
            <a:solidFill>
              <a:srgbClr val="8B9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5240" y="2423160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4" name="Text 12"/>
          <p:cNvSpPr/>
          <p:nvPr/>
        </p:nvSpPr>
        <p:spPr>
          <a:xfrm>
            <a:off x="763524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38160" y="2423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PIN (3 tries)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18120" y="2788920"/>
            <a:ext cx="0" cy="320040"/>
          </a:xfrm>
          <a:prstGeom prst="line">
            <a:avLst/>
          </a:prstGeom>
          <a:noFill/>
          <a:ln w="19050">
            <a:solidFill>
              <a:srgbClr val="8B95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35240" y="3108960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38160" y="31089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Amount &amp; Check Limit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818120" y="3474720"/>
            <a:ext cx="0" cy="320040"/>
          </a:xfrm>
          <a:prstGeom prst="line">
            <a:avLst/>
          </a:prstGeom>
          <a:noFill/>
          <a:ln w="19050">
            <a:solidFill>
              <a:srgbClr val="8B95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5240" y="3794760"/>
            <a:ext cx="365760" cy="365760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0" y="37947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OTP (simulated MFA)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18120" y="4160520"/>
            <a:ext cx="0" cy="320040"/>
          </a:xfrm>
          <a:prstGeom prst="line">
            <a:avLst/>
          </a:prstGeom>
          <a:noFill/>
          <a:ln w="19050">
            <a:solidFill>
              <a:srgbClr val="8B95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35240" y="4480560"/>
            <a:ext cx="365760" cy="365760"/>
          </a:xfrm>
          <a:prstGeom prst="ellipse">
            <a:avLst/>
          </a:prstGeom>
          <a:solidFill>
            <a:srgbClr val="1D8C81"/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38160" y="44805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Released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35240" y="5303520"/>
            <a:ext cx="4023360" cy="960120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29" name="Text 27"/>
          <p:cNvSpPr/>
          <p:nvPr/>
        </p:nvSpPr>
        <p:spPr>
          <a:xfrm>
            <a:off x="7818120" y="530352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OTP-gated: </a:t>
            </a:r>
            <a:r>
              <a:rPr lang="en-US" sz="16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simulated-OTP flow gates online fund transfers and utility bill payments in BankPortal.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B9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58A77BD-48E6-47C2-8ED6-6CAA1C73FB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59456" y="-41572"/>
            <a:ext cx="998287" cy="9052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B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VALIDATION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Testing Strategy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96839" y="14320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1D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11408" y="1871065"/>
            <a:ext cx="5532120" cy="5669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</p:sp>
      <p:sp>
        <p:nvSpPr>
          <p:cNvPr id="7" name="Text 5"/>
          <p:cNvSpPr/>
          <p:nvPr/>
        </p:nvSpPr>
        <p:spPr>
          <a:xfrm>
            <a:off x="617220" y="181607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99200" y="1825592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C++11 / C++14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1408" y="2501449"/>
            <a:ext cx="5532120" cy="5669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</p:sp>
      <p:sp>
        <p:nvSpPr>
          <p:cNvPr id="10" name="Text 8"/>
          <p:cNvSpPr/>
          <p:nvPr/>
        </p:nvSpPr>
        <p:spPr>
          <a:xfrm>
            <a:off x="658368" y="2422599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426973" y="2420013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Flat files — XOR-encoded .dat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1490" y="3123364"/>
            <a:ext cx="5554980" cy="5228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</p:sp>
      <p:sp>
        <p:nvSpPr>
          <p:cNvPr id="13" name="Text 11"/>
          <p:cNvSpPr/>
          <p:nvPr/>
        </p:nvSpPr>
        <p:spPr>
          <a:xfrm>
            <a:off x="658368" y="2992761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26973" y="3070385"/>
            <a:ext cx="342900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SHA-256 (FIPS 180-4)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3712610"/>
            <a:ext cx="5532120" cy="566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</p:sp>
      <p:sp>
        <p:nvSpPr>
          <p:cNvPr id="16" name="Text 14"/>
          <p:cNvSpPr/>
          <p:nvPr/>
        </p:nvSpPr>
        <p:spPr>
          <a:xfrm>
            <a:off x="658368" y="3595573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Tooling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468880" y="359707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GCC / Clang / MSVC (single-file)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0867" y="4934355"/>
            <a:ext cx="5554980" cy="1051561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277255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B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g++ -std=c++11 -Wall -Wextra -o smartbank SmartBank.cpp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13379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1D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TEST CASES</a:t>
            </a:r>
            <a:endParaRPr lang="en-US" sz="2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308953"/>
              </p:ext>
            </p:extLst>
          </p:nvPr>
        </p:nvGraphicFramePr>
        <p:xfrm>
          <a:off x="6336028" y="1783422"/>
          <a:ext cx="5349240" cy="3044951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57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TC</a:t>
                      </a:r>
                      <a:endParaRPr lang="en-US" sz="18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8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8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TC-01</a:t>
                      </a:r>
                      <a:endParaRPr lang="en-US" sz="16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Compile -Wall -Wextra C++11</a:t>
                      </a:r>
                      <a:endParaRPr lang="en-US" sz="16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Zero errors or warnings</a:t>
                      </a:r>
                      <a:endParaRPr lang="en-US" sz="16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TC-02</a:t>
                      </a:r>
                      <a:endParaRPr lang="en-US" sz="16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SHA-256 of "" and "abc"</a:t>
                      </a:r>
                      <a:endParaRPr lang="en-US" sz="16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Matches FIPS 180-4 reference exactly</a:t>
                      </a:r>
                      <a:endParaRPr lang="en-US" sz="16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TC-04</a:t>
                      </a:r>
                      <a:endParaRPr lang="en-US" sz="16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Restart → login, correct password</a:t>
                      </a:r>
                      <a:endParaRPr lang="en-US" sz="16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Hash from disk matches re-hashed input</a:t>
                      </a:r>
                      <a:endParaRPr lang="en-US" sz="16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5B6478"/>
                          </a:solidFill>
                        </a:rPr>
                        <a:t>TC-08</a:t>
                      </a:r>
                      <a:endParaRPr lang="en-US" sz="16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3 consecutive failed logins</a:t>
                      </a:r>
                      <a:endParaRPr lang="en-US" sz="16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Account locked until admin unlocks</a:t>
                      </a:r>
                      <a:endParaRPr lang="en-US" sz="16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6336029" y="5056828"/>
            <a:ext cx="5349240" cy="1172229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23" name="Text 20"/>
          <p:cNvSpPr/>
          <p:nvPr/>
        </p:nvSpPr>
        <p:spPr>
          <a:xfrm>
            <a:off x="6537960" y="4934355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verified against FIPS 180-4:</a:t>
            </a:r>
            <a:r>
              <a:rPr lang="en-US" sz="2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dirty="0">
                <a:solidFill>
                  <a:srgbClr val="1D8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 → e3b0c442...b855   ✓
"abc" → ba7816bf...6c63   ✓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EBFDEA3-DACD-4EA0-8220-D17E8E8E7A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59456" y="-41572"/>
            <a:ext cx="998287" cy="9052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B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Limitations &amp; Future Work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972005"/>
              </p:ext>
            </p:extLst>
          </p:nvPr>
        </p:nvGraphicFramePr>
        <p:xfrm>
          <a:off x="731520" y="1414948"/>
          <a:ext cx="10865815" cy="3600852"/>
        </p:xfrm>
        <a:graphic>
          <a:graphicData uri="http://schemas.openxmlformats.org/drawingml/2006/table">
            <a:tbl>
              <a:tblPr/>
              <a:tblGrid>
                <a:gridCol w="3309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1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Risk / Limitation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Impact / Likelihood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Mitigation / Next Step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Unsalted SHA-256 hash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77B12"/>
                          </a:solidFill>
                        </a:rPr>
                        <a:t>Med / Med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Add per-user salt; migrate to bcrypt/Argon2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XOR is weak obfuscation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77B12"/>
                          </a:solidFill>
                        </a:rPr>
                        <a:t>Med / Med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Migrate to AES-GCM authenticated encryption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Hard-coded admin password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77B12"/>
                          </a:solidFill>
                        </a:rPr>
                        <a:t>High / Low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Externalise + hash the admin credential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No regression test suite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77B12"/>
                          </a:solidFill>
                        </a:rPr>
                        <a:t>Low / Med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Lightweight unit-test harness (SecuritySystem, User)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1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OTP is on-screen simulation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C77B12"/>
                          </a:solidFill>
                        </a:rPr>
                        <a:t>Med / Low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B6478"/>
                          </a:solidFill>
                        </a:rPr>
                        <a:t>Real SMS/email gateway &amp; biometric SDK integration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168057"/>
            <a:ext cx="10865815" cy="1330593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78513" y="5242435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2CB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34068" y="5591132"/>
            <a:ext cx="1083466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salting  ·  bcrypt / Argon2 migration  ·  AES-GCM for data-at-rest  ·  Hash application passwords at submission  ·  Externalised admin credential  ·  Automated unit tests  ·  Real SMS/OTP &amp; biometric integration  ·  SQLite backend if scaling beyond single-process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5DA889-5EFD-4E71-B00C-2C1FCB9F2B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59456" y="-41572"/>
            <a:ext cx="998287" cy="9052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309778"/>
            <a:ext cx="5486400" cy="467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2CB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78334" y="1076162"/>
            <a:ext cx="11392302" cy="1049109"/>
          </a:xfrm>
          <a:prstGeom prst="rect">
            <a:avLst/>
          </a:prstGeom>
          <a:solidFill>
            <a:srgbClr val="0F1F3D"/>
          </a:solidFill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SmartBank v2.1 demonstrates that a compact, dependency-free C++ application can responsibly model realistic banking operations while respecting sound credential-handling practice. The SHA-256 upgrade closes the most significant security gap — plain-text password storage — validated both cryptographically and behaviourally.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41655" y="4822659"/>
            <a:ext cx="11155680" cy="512064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26" name="Text 24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B9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7B526A0-0D45-47C2-BF12-4AE612A886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59456" y="-41572"/>
            <a:ext cx="998287" cy="90525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C52A403-A44E-4EC6-A04E-E962B183BD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7626" y="2566839"/>
            <a:ext cx="8840434" cy="35342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2000</Words>
  <Application>Microsoft Office PowerPoint</Application>
  <PresentationFormat>Widescreen</PresentationFormat>
  <Paragraphs>339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TaRikUL_30</cp:lastModifiedBy>
  <cp:revision>24</cp:revision>
  <dcterms:created xsi:type="dcterms:W3CDTF">2026-07-13T05:42:53Z</dcterms:created>
  <dcterms:modified xsi:type="dcterms:W3CDTF">2026-07-14T01:28:32Z</dcterms:modified>
</cp:coreProperties>
</file>